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9" r:id="rId14"/>
    <p:sldId id="270" r:id="rId15"/>
    <p:sldId id="271" r:id="rId16"/>
    <p:sldId id="267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5"/>
    <p:restoredTop sz="84878"/>
  </p:normalViewPr>
  <p:slideViewPr>
    <p:cSldViewPr snapToGrid="0" snapToObjects="1">
      <p:cViewPr varScale="1">
        <p:scale>
          <a:sx n="95" d="100"/>
          <a:sy n="95" d="100"/>
        </p:scale>
        <p:origin x="8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469B0-BFDD-5340-BEBE-B4A2CC2FF069}" type="datetimeFigureOut">
              <a:rPr lang="de-DE" smtClean="0"/>
              <a:t>09.12.21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9667-811E-5E43-950A-0262F7E2B2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50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Datei mit der Endung .</a:t>
            </a:r>
            <a:r>
              <a:rPr lang="de-DE" dirty="0" err="1"/>
              <a:t>py</a:t>
            </a:r>
            <a:r>
              <a:rPr lang="de-DE" dirty="0"/>
              <a:t> erstellen</a:t>
            </a:r>
          </a:p>
          <a:p>
            <a:pPr marL="171450" indent="-171450">
              <a:buFontTx/>
              <a:buChar char="-"/>
            </a:pPr>
            <a:r>
              <a:rPr lang="de-DE" dirty="0"/>
              <a:t>Zeigen, dass VS </a:t>
            </a:r>
            <a:r>
              <a:rPr lang="de-DE" dirty="0" err="1"/>
              <a:t>code</a:t>
            </a:r>
            <a:r>
              <a:rPr lang="de-DE" dirty="0"/>
              <a:t> sofort „Python“ erkennt</a:t>
            </a:r>
          </a:p>
          <a:p>
            <a:pPr marL="171450" indent="-171450">
              <a:buFontTx/>
              <a:buChar char="-"/>
            </a:pPr>
            <a:r>
              <a:rPr lang="de-DE" dirty="0"/>
              <a:t>Im Terminal ausführen</a:t>
            </a:r>
          </a:p>
          <a:p>
            <a:pPr marL="171450" indent="-171450">
              <a:buFontTx/>
              <a:buChar char="-"/>
            </a:pPr>
            <a:r>
              <a:rPr lang="de-DE" dirty="0"/>
              <a:t>Und ausführen als : python3 demo1_1.py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B9667-811E-5E43-950A-0262F7E2B24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1988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Variablen und </a:t>
            </a:r>
            <a:r>
              <a:rPr lang="de-DE" dirty="0" err="1"/>
              <a:t>einfachacher</a:t>
            </a:r>
            <a:r>
              <a:rPr lang="de-DE" dirty="0"/>
              <a:t> Benutzerinteraktion (1_3) zeigen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B9667-811E-5E43-950A-0262F7E2B24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736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09.12.21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09.12.21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1 – Warm </a:t>
            </a:r>
            <a:r>
              <a:rPr lang="de-DE" dirty="0" err="1"/>
              <a:t>Up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Python Historie</a:t>
            </a:r>
          </a:p>
          <a:p>
            <a:r>
              <a:rPr lang="de-DE" dirty="0"/>
              <a:t>Vorbereitung</a:t>
            </a:r>
          </a:p>
          <a:p>
            <a:r>
              <a:rPr lang="de-DE" dirty="0"/>
              <a:t>Erste Schritte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907D02-C499-8A4D-8A0D-4E8AD82C2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CC8CE-D5EA-9547-948D-4AE1D555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Konzipiert als Lern-Programmiersprache (Anfang der 90er)</a:t>
            </a:r>
          </a:p>
          <a:p>
            <a:r>
              <a:rPr lang="de-DE" dirty="0"/>
              <a:t>Einfache Syntax, kaum Klammern, einfache Variablendeklaration, wenige Schlüsselwörter, etc.</a:t>
            </a:r>
          </a:p>
          <a:p>
            <a:r>
              <a:rPr lang="de-DE" dirty="0"/>
              <a:t>Interpretierte Programmiersprache</a:t>
            </a:r>
          </a:p>
          <a:p>
            <a:r>
              <a:rPr lang="de-DE" dirty="0"/>
              <a:t>Python 2 != Python 3 (keine Abwärtskompatibilität)</a:t>
            </a:r>
          </a:p>
        </p:txBody>
      </p:sp>
    </p:spTree>
    <p:extLst>
      <p:ext uri="{BB962C8B-B14F-4D97-AF65-F5344CB8AC3E}">
        <p14:creationId xmlns:p14="http://schemas.microsoft.com/office/powerpoint/2010/main" val="101214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53B456-F06A-3C4A-B7FA-EC1755C1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00" y="978102"/>
            <a:ext cx="10588434" cy="1062644"/>
          </a:xfrm>
        </p:spPr>
        <p:txBody>
          <a:bodyPr anchor="b">
            <a:normAutofit/>
          </a:bodyPr>
          <a:lstStyle/>
          <a:p>
            <a:r>
              <a:rPr lang="de-DE" dirty="0"/>
              <a:t>Vorbereitung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B7FDC9-F0CE-43A7-9F2A-83DD09DC3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7624" y="2265037"/>
            <a:ext cx="10125012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 descr="Werbung mit einfarbiger Füllung">
            <a:extLst>
              <a:ext uri="{FF2B5EF4-FFF2-40B4-BE49-F238E27FC236}">
                <a16:creationId xmlns:a16="http://schemas.microsoft.com/office/drawing/2014/main" id="{2E8203D8-ADC9-2E43-BB73-9E350341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206" y="2811104"/>
            <a:ext cx="2928114" cy="2928114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C7864-9B01-B248-9E8F-A7A6C7CF2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354" y="2682433"/>
            <a:ext cx="6282169" cy="3215749"/>
          </a:xfrm>
        </p:spPr>
        <p:txBody>
          <a:bodyPr>
            <a:normAutofit/>
          </a:bodyPr>
          <a:lstStyle/>
          <a:p>
            <a:r>
              <a:rPr lang="de-DE" sz="2400"/>
              <a:t>Texteditor würde reichen (wir nehmen VS Code)</a:t>
            </a:r>
          </a:p>
          <a:p>
            <a:r>
              <a:rPr lang="de-DE" sz="2400"/>
              <a:t>Python Interpreter muss installiert sein (hier 3.x)</a:t>
            </a:r>
          </a:p>
          <a:p>
            <a:r>
              <a:rPr lang="de-DE" sz="2400"/>
              <a:t>Bei Windows fügen wir den Pfad zu den Umgebungsvariablen hinzu</a:t>
            </a:r>
          </a:p>
          <a:p>
            <a:endParaRPr lang="de-DE" sz="2400"/>
          </a:p>
          <a:p>
            <a:endParaRPr lang="de-DE" sz="240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1295FD4-96A4-0145-AFE5-8720C4C20279}"/>
              </a:ext>
            </a:extLst>
          </p:cNvPr>
          <p:cNvSpPr txBox="1"/>
          <p:nvPr/>
        </p:nvSpPr>
        <p:spPr>
          <a:xfrm>
            <a:off x="1765102" y="3529013"/>
            <a:ext cx="17956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be</a:t>
            </a:r>
            <a:r>
              <a:rPr lang="de-DE" sz="2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 </a:t>
            </a:r>
            <a:r>
              <a:rPr lang="de-DE" sz="2400" dirty="0" err="1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prepared</a:t>
            </a:r>
            <a:r>
              <a:rPr lang="de-DE" sz="2400" dirty="0">
                <a:solidFill>
                  <a:schemeClr val="bg1">
                    <a:lumMod val="95000"/>
                  </a:schemeClr>
                </a:solidFill>
                <a:latin typeface="Bradley Hand" pitchFamily="2" charset="77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978784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DE999-D9B5-2C42-8652-66427044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de-DE" dirty="0"/>
              <a:t>Ein erster 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C6744C-1D5A-CD48-AD1C-46E8485CA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de-DE" sz="2000"/>
              <a:t>Via Command Prompt oder Terminal:</a:t>
            </a:r>
          </a:p>
          <a:p>
            <a:endParaRPr lang="de-DE" sz="2000"/>
          </a:p>
          <a:p>
            <a:pPr marL="0" indent="0">
              <a:buNone/>
            </a:pPr>
            <a:endParaRPr lang="de-DE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74FC145-8610-EE4E-BDC2-83FB3E174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20612"/>
            <a:ext cx="6019331" cy="421353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9059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93D1D-023E-8548-AD68-528103D3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de-DE" dirty="0"/>
              <a:t>Erste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18AF6B-6AC3-184D-9269-0317C16B7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de-DE" sz="2000"/>
              <a:t>Einfache Rechenaufgaben</a:t>
            </a:r>
          </a:p>
          <a:p>
            <a:r>
              <a:rPr lang="de-DE" sz="2000"/>
              <a:t>Erste Variablen</a:t>
            </a:r>
          </a:p>
          <a:p>
            <a:r>
              <a:rPr lang="de-DE" sz="2000"/>
              <a:t>Erste Ausgabe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90B9BC1-30C4-9044-86A5-F4F705C22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2" y="1320612"/>
            <a:ext cx="6019331" cy="421353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1308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C47863C-0195-0142-8CC8-D6E598AA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VS Code vorbereiten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3B0EE9-3183-1642-9706-BD8E85F35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Extension installieren (Demo)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4623667-1C7B-754A-99A2-F21900458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55694"/>
            <a:ext cx="7214616" cy="551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5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92239A-3B06-7544-848E-2F0961C1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 1_1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E7646E-5D8D-8343-9ECA-C6345D7A3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1551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0A3183C-12AE-874D-802D-F70662C4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chemeClr val="bg1"/>
                </a:solidFill>
              </a:rPr>
              <a:t>Variablen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CCC67F-582E-A34E-A920-F6531E9E1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anchor="ctr">
            <a:normAutofit/>
          </a:bodyPr>
          <a:lstStyle/>
          <a:p>
            <a:r>
              <a:rPr lang="de-DE" sz="1800">
                <a:solidFill>
                  <a:schemeClr val="tx2"/>
                </a:solidFill>
              </a:rPr>
              <a:t>können</a:t>
            </a:r>
          </a:p>
          <a:p>
            <a:pPr lvl="1"/>
            <a:r>
              <a:rPr lang="de-DE" sz="1800">
                <a:solidFill>
                  <a:schemeClr val="tx2"/>
                </a:solidFill>
              </a:rPr>
              <a:t>Beliebige Buchstaben, Ziffern und Unterscore enthalten</a:t>
            </a:r>
          </a:p>
          <a:p>
            <a:pPr lvl="1"/>
            <a:r>
              <a:rPr lang="de-DE" sz="1800">
                <a:solidFill>
                  <a:schemeClr val="tx2"/>
                </a:solidFill>
              </a:rPr>
              <a:t>Keine Ziffer am Anfang!</a:t>
            </a:r>
          </a:p>
          <a:p>
            <a:pPr lvl="1"/>
            <a:r>
              <a:rPr lang="de-DE" sz="1800">
                <a:solidFill>
                  <a:schemeClr val="tx2"/>
                </a:solidFill>
              </a:rPr>
              <a:t>Sind case sensitive!</a:t>
            </a:r>
          </a:p>
          <a:p>
            <a:pPr lvl="1"/>
            <a:r>
              <a:rPr lang="de-DE" sz="1800">
                <a:solidFill>
                  <a:schemeClr val="tx2"/>
                </a:solidFill>
              </a:rPr>
              <a:t>Unterstützen Unicode Zeichensatz =&gt; auch ö,ü,ä, etc.</a:t>
            </a:r>
          </a:p>
          <a:p>
            <a:pPr lvl="1"/>
            <a:r>
              <a:rPr lang="de-DE" sz="1800">
                <a:solidFill>
                  <a:schemeClr val="tx2"/>
                </a:solidFill>
              </a:rPr>
              <a:t>Erwarten keinen vorgegebenen Datentyp</a:t>
            </a:r>
            <a:endParaRPr lang="de-D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8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7DCF4-1EF2-E54D-B89F-02D067CB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Datentypen (</a:t>
            </a:r>
            <a:r>
              <a:rPr lang="de-DE" dirty="0" err="1"/>
              <a:t>built</a:t>
            </a:r>
            <a:r>
              <a:rPr lang="de-DE" dirty="0"/>
              <a:t>-in)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F53C373-C04E-7148-995B-23BC5A1CEE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9875" y="1959134"/>
          <a:ext cx="9612249" cy="40843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667312195"/>
                    </a:ext>
                  </a:extLst>
                </a:gridCol>
                <a:gridCol w="8088249">
                  <a:extLst>
                    <a:ext uri="{9D8B030D-6E8A-4147-A177-3AD203B41FA5}">
                      <a16:colId xmlns:a16="http://schemas.microsoft.com/office/drawing/2014/main" val="770630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Text Type: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str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955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Numeric Types: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int, float, complex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315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Sequence Types: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list, tuple, range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13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Mapping Type: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dirty="0" err="1">
                          <a:effectLst/>
                        </a:rPr>
                        <a:t>dict</a:t>
                      </a:r>
                      <a:endParaRPr lang="de-DE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8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Set Types: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set, frozenset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903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Boolean Type: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bool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21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de-DE">
                          <a:effectLst/>
                        </a:rPr>
                        <a:t>Binary Types:</a:t>
                      </a:r>
                    </a:p>
                  </a:txBody>
                  <a:tcPr marL="1524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dirty="0" err="1">
                          <a:effectLst/>
                        </a:rPr>
                        <a:t>bytes</a:t>
                      </a:r>
                      <a:r>
                        <a:rPr lang="de-DE" dirty="0">
                          <a:effectLst/>
                        </a:rPr>
                        <a:t>, </a:t>
                      </a:r>
                      <a:r>
                        <a:rPr lang="de-DE" dirty="0" err="1">
                          <a:effectLst/>
                        </a:rPr>
                        <a:t>bytearray</a:t>
                      </a:r>
                      <a:r>
                        <a:rPr lang="de-DE" dirty="0">
                          <a:effectLst/>
                        </a:rPr>
                        <a:t>, </a:t>
                      </a:r>
                      <a:r>
                        <a:rPr lang="de-DE" dirty="0" err="1">
                          <a:effectLst/>
                        </a:rPr>
                        <a:t>memoryview</a:t>
                      </a:r>
                      <a:endParaRPr lang="de-DE" dirty="0">
                        <a:effectLst/>
                      </a:endParaRP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15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558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1D98CF-67CA-0C46-BFAB-435E1BEB3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Demo1_2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019818-675E-0B4F-84EE-29F5E145A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53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588293-C512-084C-83C4-77355EEB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Datentypen erzwingen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DB6D5F-AE08-A449-8034-E27D8D7A5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1150" cy="4351338"/>
          </a:xfrm>
        </p:spPr>
        <p:txBody>
          <a:bodyPr/>
          <a:lstStyle/>
          <a:p>
            <a:r>
              <a:rPr lang="de-DE" dirty="0"/>
              <a:t>Dynamische Typisierung funktioniert weitgehend</a:t>
            </a:r>
          </a:p>
          <a:p>
            <a:r>
              <a:rPr lang="de-DE" dirty="0"/>
              <a:t>Erzwingen ist manches Mal nötig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AB81230-24A1-D941-B8D2-100007153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06700"/>
            <a:ext cx="63627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18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C2357-15B2-7349-BF5A-21DC344F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Artithmetische</a:t>
            </a:r>
            <a:r>
              <a:rPr lang="de-DE" dirty="0"/>
              <a:t> Operatoren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E6264F92-04C8-344B-8A3A-3EA68679B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288161"/>
              </p:ext>
            </p:extLst>
          </p:nvPr>
        </p:nvGraphicFramePr>
        <p:xfrm>
          <a:off x="838200" y="1825625"/>
          <a:ext cx="10515600" cy="29667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55061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79628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344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Substraction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073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Mulitiplikation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791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747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Modulo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2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Exponent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35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Ganzzahlige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062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975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045E13-9B72-3E4D-8EE2-E62C3DE2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Vergleichende Operatoren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A5AD4ACA-9CAF-4246-98B8-60BF0FA4C8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656133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6075972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1220817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86175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49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x==Y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45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Ungleich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X!=</a:t>
                      </a:r>
                      <a:r>
                        <a:rPr lang="de-DE" dirty="0" err="1"/>
                        <a:t>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64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Größer 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X&gt;</a:t>
                      </a:r>
                      <a:r>
                        <a:rPr lang="de-DE" dirty="0" err="1"/>
                        <a:t>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555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Kleiner 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X&lt;</a:t>
                      </a:r>
                      <a:r>
                        <a:rPr lang="de-DE" dirty="0" err="1"/>
                        <a:t>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52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Größer 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X&gt;=Y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29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Kleiner gleich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X&lt;=</a:t>
                      </a:r>
                      <a:r>
                        <a:rPr lang="de-DE" dirty="0" err="1"/>
                        <a:t>y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71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3249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FC5BB-EE39-A042-A950-50CB4FCB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Demo1_3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4F169-DC4A-F542-B8A6-968E29D81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210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de-DE" dirty="0"/>
              <a:t>Ende Warm </a:t>
            </a:r>
            <a:r>
              <a:rPr lang="de-DE" dirty="0" err="1"/>
              <a:t>Up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de-DE" sz="2000"/>
              <a:t>Q &amp;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5743" y="807593"/>
            <a:ext cx="5239568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306</Words>
  <Application>Microsoft Macintosh PowerPoint</Application>
  <PresentationFormat>Breitbild</PresentationFormat>
  <Paragraphs>100</Paragraphs>
  <Slides>16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Bradley Hand</vt:lpstr>
      <vt:lpstr>Calibri</vt:lpstr>
      <vt:lpstr>Calibri Light</vt:lpstr>
      <vt:lpstr>Office</vt:lpstr>
      <vt:lpstr>Python</vt:lpstr>
      <vt:lpstr>Agenda</vt:lpstr>
      <vt:lpstr>Historie</vt:lpstr>
      <vt:lpstr>Vorbereitung</vt:lpstr>
      <vt:lpstr>Ein erster Test</vt:lpstr>
      <vt:lpstr>Erste Schritte</vt:lpstr>
      <vt:lpstr>VS Code vorbereiten</vt:lpstr>
      <vt:lpstr>Demo 1_1</vt:lpstr>
      <vt:lpstr>Variablen</vt:lpstr>
      <vt:lpstr>Datentypen (built-in)</vt:lpstr>
      <vt:lpstr>Demo1_2</vt:lpstr>
      <vt:lpstr>Datentypen erzwingen</vt:lpstr>
      <vt:lpstr>Artithmetische Operatoren</vt:lpstr>
      <vt:lpstr>Vergleichende Operatoren</vt:lpstr>
      <vt:lpstr>Demo1_3</vt:lpstr>
      <vt:lpstr>Ende Warm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9</cp:revision>
  <dcterms:created xsi:type="dcterms:W3CDTF">2021-11-18T12:30:48Z</dcterms:created>
  <dcterms:modified xsi:type="dcterms:W3CDTF">2021-12-09T14:10:45Z</dcterms:modified>
</cp:coreProperties>
</file>