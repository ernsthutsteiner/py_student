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2" r:id="rId4"/>
    <p:sldId id="271" r:id="rId5"/>
    <p:sldId id="273" r:id="rId6"/>
    <p:sldId id="274" r:id="rId7"/>
    <p:sldId id="276" r:id="rId8"/>
    <p:sldId id="277" r:id="rId9"/>
    <p:sldId id="275" r:id="rId10"/>
    <p:sldId id="278" r:id="rId11"/>
    <p:sldId id="270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5878"/>
  </p:normalViewPr>
  <p:slideViewPr>
    <p:cSldViewPr snapToGrid="0" snapToObjects="1">
      <p:cViewPr varScale="1">
        <p:scale>
          <a:sx n="108" d="100"/>
          <a:sy n="108" d="100"/>
        </p:scale>
        <p:origin x="7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4897D-11E6-7D4C-B0FA-99BB61280336}" type="datetimeFigureOut">
              <a:rPr lang="de-DE" smtClean="0"/>
              <a:t>13.12.21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91405-EF3B-5B49-8BB8-A0EAC62FF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91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Show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itertool_n</a:t>
            </a:r>
            <a:r>
              <a:rPr lang="de-DE" dirty="0"/>
              <a:t> </a:t>
            </a:r>
            <a:r>
              <a:rPr lang="de-DE" dirty="0" err="1"/>
              <a:t>examples</a:t>
            </a:r>
            <a:r>
              <a:rPr lang="de-DE" dirty="0"/>
              <a:t> </a:t>
            </a:r>
            <a:r>
              <a:rPr lang="de-DE" dirty="0" err="1"/>
              <a:t>now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013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6116-93FF-A045-A9B0-68E6E967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8" y="225108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FB516-B0AE-1242-A23C-0BBB531D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7" y="49117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26" name="Picture 2" descr="Logo Hutsteiner">
            <a:extLst>
              <a:ext uri="{FF2B5EF4-FFF2-40B4-BE49-F238E27FC236}">
                <a16:creationId xmlns:a16="http://schemas.microsoft.com/office/drawing/2014/main" id="{BE78DB82-B139-294B-8D3E-1C811E067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181719"/>
            <a:ext cx="3505200" cy="168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41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84A64-7DB3-F14D-AA4D-CEF0DB9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E3EE2-EED0-0643-A8E4-A395DCE9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30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91A6-1040-3E4D-836B-F1F353E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F74BC7-64B2-5843-8E42-16B61F40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294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FCF6E-81C4-5A4B-82FC-CB7E649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37C5E-E331-6B47-A91C-8C7E35248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028B-2428-5A4D-A146-D067D2C8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433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1A62-BAD3-1F4D-88FE-C1FD0E4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0E73-BC58-7A44-9C75-05B86F127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3F928E-1434-0C4E-8793-1AE067406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258AC5-3709-BF4D-9329-1B865490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B4586-A3D7-D947-84A5-6D5D7E330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17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B432D-F227-004B-8770-A22BC2AF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2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1997A-0791-154A-9E2F-B9293088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3DD00-1418-6D4E-91AB-F33F1190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5765E-48CC-7542-9B12-A6AE7AA1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018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E643-3527-FE40-B649-80A474C4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087FD-F37C-A84A-8F19-FBB5DEAD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5DACED-209B-EF47-8699-021D04DBC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91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C6989-866D-F547-9896-7B152526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40596C-A566-DA40-883B-341B3B34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438F8E-9CB3-0745-9002-A4B864E1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13.12.21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31CDFB-673C-274D-887A-D3A63598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315F2-3BD2-F740-B4C2-F14A64E0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31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7D076-7EA9-A54C-B9C3-AEBFF936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4263DF-7DD5-4947-888C-47A5ACB8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8D204-5B9B-144F-B41E-F3746DDE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13.12.21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CC5704-166B-654C-B613-0A04CFA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0B8B9-8DE3-C342-B585-942E2EC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6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CAB6531-9149-0442-9B18-742EF22636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98A33-CEB5-AC4C-85A5-7120DDC2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F2CD9-1E7B-104D-A63A-F776B508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B110C5-47C5-814C-BC26-0AD16EE698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58525" y="6221095"/>
            <a:ext cx="1019175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F56F-811A-9C45-B747-C608AC34A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de-DE" dirty="0"/>
              <a:t>Python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23CFE7-7AB5-4F4D-8603-1FF9C42D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1" y="3519513"/>
            <a:ext cx="4826000" cy="304800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395B9449-3F89-8745-911C-3EC89A8CC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 dirty="0"/>
              <a:t>Basiswissen</a:t>
            </a:r>
            <a:br>
              <a:rPr lang="de-DE" dirty="0"/>
            </a:br>
            <a:r>
              <a:rPr lang="de-DE" dirty="0"/>
              <a:t>Modul 3 – Schleifen</a:t>
            </a:r>
          </a:p>
        </p:txBody>
      </p:sp>
    </p:spTree>
    <p:extLst>
      <p:ext uri="{BB962C8B-B14F-4D97-AF65-F5344CB8AC3E}">
        <p14:creationId xmlns:p14="http://schemas.microsoft.com/office/powerpoint/2010/main" val="238437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070395-6FF8-D341-A227-65237964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AE82633-098D-2546-A957-27D6CA60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While</a:t>
            </a:r>
            <a:r>
              <a:rPr lang="de-DE" dirty="0"/>
              <a:t> - Schleifen</a:t>
            </a:r>
          </a:p>
          <a:p>
            <a:r>
              <a:rPr lang="de-DE" dirty="0" err="1"/>
              <a:t>For</a:t>
            </a:r>
            <a:r>
              <a:rPr lang="de-DE" dirty="0"/>
              <a:t> – Schleifen</a:t>
            </a:r>
          </a:p>
          <a:p>
            <a:r>
              <a:rPr lang="de-DE" dirty="0" err="1"/>
              <a:t>Iterables</a:t>
            </a:r>
            <a:endParaRPr lang="de-DE" dirty="0"/>
          </a:p>
          <a:p>
            <a:r>
              <a:rPr lang="de-DE"/>
              <a:t>itertools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8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3552A3-0004-C940-8F25-616606C65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While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766382-934A-B14D-813B-2E35B24DC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Einleitung durch den Begriff „</a:t>
            </a:r>
            <a:r>
              <a:rPr lang="de-DE" dirty="0" err="1"/>
              <a:t>while</a:t>
            </a:r>
            <a:r>
              <a:rPr lang="de-DE" dirty="0"/>
              <a:t>“</a:t>
            </a:r>
          </a:p>
          <a:p>
            <a:r>
              <a:rPr lang="de-DE" dirty="0"/>
              <a:t>Wird ausgeführt, solange eine bestimmte Bedingung zutrifft</a:t>
            </a:r>
          </a:p>
          <a:p>
            <a:r>
              <a:rPr lang="de-DE" dirty="0"/>
              <a:t>Bestimme Variablen müssen bereit sein (z.B. Zählervariable)</a:t>
            </a:r>
          </a:p>
          <a:p>
            <a:r>
              <a:rPr lang="de-DE" dirty="0"/>
              <a:t>Kann mit “break“ frühzeitig beendet werden</a:t>
            </a:r>
          </a:p>
          <a:p>
            <a:r>
              <a:rPr lang="de-DE" dirty="0"/>
              <a:t>Kann mit „</a:t>
            </a:r>
            <a:r>
              <a:rPr lang="de-DE" dirty="0" err="1"/>
              <a:t>continue</a:t>
            </a:r>
            <a:r>
              <a:rPr lang="de-DE" dirty="0"/>
              <a:t>“ fortgesetzt werden</a:t>
            </a:r>
          </a:p>
        </p:txBody>
      </p:sp>
    </p:spTree>
    <p:extLst>
      <p:ext uri="{BB962C8B-B14F-4D97-AF65-F5344CB8AC3E}">
        <p14:creationId xmlns:p14="http://schemas.microsoft.com/office/powerpoint/2010/main" val="417796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!!BGRectangle">
            <a:extLst>
              <a:ext uri="{FF2B5EF4-FFF2-40B4-BE49-F238E27FC236}">
                <a16:creationId xmlns:a16="http://schemas.microsoft.com/office/drawing/2014/main" id="{89C1B8B3-9FDD-4D8C-9C4D-2FD7CFA2F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618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0EB187-900F-4AF5-813B-101456D9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Target with various rings of accuracy">
            <a:extLst>
              <a:ext uri="{FF2B5EF4-FFF2-40B4-BE49-F238E27FC236}">
                <a16:creationId xmlns:a16="http://schemas.microsoft.com/office/drawing/2014/main" id="{030C43E0-213B-4C4A-9879-9650B77830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288" b="15442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D477502-BE1C-A445-90CD-C92651F0D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480" y="1200152"/>
            <a:ext cx="6897171" cy="44576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dirty="0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13" name="!!Line">
            <a:extLst>
              <a:ext uri="{FF2B5EF4-FFF2-40B4-BE49-F238E27FC236}">
                <a16:creationId xmlns:a16="http://schemas.microsoft.com/office/drawing/2014/main" id="{93A9CEA1-EFF3-40F6-AB36-E232925E7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04632" y="2286000"/>
            <a:ext cx="27432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1655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A8817B-1664-FC4D-B665-4EF017EF7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For</a:t>
            </a:r>
            <a:r>
              <a:rPr lang="de-DE" dirty="0"/>
              <a:t> Schleifen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075E59-8740-4349-BB2D-E6E7912F2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Iterieren </a:t>
            </a:r>
            <a:r>
              <a:rPr lang="de-DE" dirty="0" err="1"/>
              <a:t>druch</a:t>
            </a:r>
            <a:r>
              <a:rPr lang="de-DE" dirty="0"/>
              <a:t> eine Sequenz (Liste, Tupel, … String)</a:t>
            </a:r>
          </a:p>
          <a:p>
            <a:r>
              <a:rPr lang="de-DE" dirty="0"/>
              <a:t>Benötigt keine Zählervariable</a:t>
            </a:r>
          </a:p>
          <a:p>
            <a:r>
              <a:rPr lang="de-DE" dirty="0"/>
              <a:t>Kann mit „break“ gestoppt</a:t>
            </a:r>
          </a:p>
          <a:p>
            <a:r>
              <a:rPr lang="de-DE" dirty="0"/>
              <a:t>Und mit „</a:t>
            </a:r>
            <a:r>
              <a:rPr lang="de-DE" dirty="0" err="1"/>
              <a:t>continue</a:t>
            </a:r>
            <a:r>
              <a:rPr lang="de-DE" dirty="0"/>
              <a:t>“ </a:t>
            </a:r>
            <a:r>
              <a:rPr lang="de-DE"/>
              <a:t>fortgesetzt werden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353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arget with various rings of accuracy">
            <a:extLst>
              <a:ext uri="{FF2B5EF4-FFF2-40B4-BE49-F238E27FC236}">
                <a16:creationId xmlns:a16="http://schemas.microsoft.com/office/drawing/2014/main" id="{030C43E0-213B-4C4A-9879-9650B77830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288" b="15442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D477502-BE1C-A445-90CD-C92651F0D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480" y="1200152"/>
            <a:ext cx="6897171" cy="44576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dirty="0">
                <a:solidFill>
                  <a:srgbClr val="FFFFFF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676632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illusion of swirling lines in black and white">
            <a:extLst>
              <a:ext uri="{FF2B5EF4-FFF2-40B4-BE49-F238E27FC236}">
                <a16:creationId xmlns:a16="http://schemas.microsoft.com/office/drawing/2014/main" id="{C57C6C43-0C10-416D-8632-4074D403CF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882" b="-1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2D3408-4379-3B43-AC56-9842A5CE9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 err="1">
                <a:solidFill>
                  <a:schemeClr val="tx1"/>
                </a:solidFill>
              </a:rPr>
              <a:t>Iteratoren</a:t>
            </a:r>
            <a:endParaRPr lang="en-US" sz="5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64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16">
            <a:extLst>
              <a:ext uri="{FF2B5EF4-FFF2-40B4-BE49-F238E27FC236}">
                <a16:creationId xmlns:a16="http://schemas.microsoft.com/office/drawing/2014/main" id="{C1DEB374-A1D0-48A1-B178-959E6F243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3" y="-478"/>
            <a:ext cx="6378162" cy="6858478"/>
          </a:xfrm>
          <a:custGeom>
            <a:avLst/>
            <a:gdLst>
              <a:gd name="connsiteX0" fmla="*/ 0 w 6378162"/>
              <a:gd name="connsiteY0" fmla="*/ 6858478 h 6858478"/>
              <a:gd name="connsiteX1" fmla="*/ 6378162 w 6378162"/>
              <a:gd name="connsiteY1" fmla="*/ 6858478 h 6858478"/>
              <a:gd name="connsiteX2" fmla="*/ 3201787 w 6378162"/>
              <a:gd name="connsiteY2" fmla="*/ 0 h 6858478"/>
              <a:gd name="connsiteX3" fmla="*/ 3196210 w 6378162"/>
              <a:gd name="connsiteY3" fmla="*/ 0 h 6858478"/>
              <a:gd name="connsiteX4" fmla="*/ 2129982 w 6378162"/>
              <a:gd name="connsiteY4" fmla="*/ 0 h 6858478"/>
              <a:gd name="connsiteX5" fmla="*/ 0 w 6378162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78162" h="6858478">
                <a:moveTo>
                  <a:pt x="0" y="6858478"/>
                </a:moveTo>
                <a:lnTo>
                  <a:pt x="6378162" y="6858478"/>
                </a:lnTo>
                <a:lnTo>
                  <a:pt x="3201787" y="0"/>
                </a:lnTo>
                <a:lnTo>
                  <a:pt x="3196210" y="0"/>
                </a:lnTo>
                <a:lnTo>
                  <a:pt x="2129982" y="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>
              <a:lumMod val="85000"/>
              <a:lumOff val="15000"/>
              <a:alpha val="7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18">
            <a:extLst>
              <a:ext uri="{FF2B5EF4-FFF2-40B4-BE49-F238E27FC236}">
                <a16:creationId xmlns:a16="http://schemas.microsoft.com/office/drawing/2014/main" id="{2D92A3ED-9854-4AD9-88FB-0EC89C939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3" y="-478"/>
            <a:ext cx="5972343" cy="6858478"/>
          </a:xfrm>
          <a:custGeom>
            <a:avLst/>
            <a:gdLst>
              <a:gd name="connsiteX0" fmla="*/ 0 w 5972343"/>
              <a:gd name="connsiteY0" fmla="*/ 6858478 h 6858478"/>
              <a:gd name="connsiteX1" fmla="*/ 5972343 w 5972343"/>
              <a:gd name="connsiteY1" fmla="*/ 6858478 h 6858478"/>
              <a:gd name="connsiteX2" fmla="*/ 2795968 w 5972343"/>
              <a:gd name="connsiteY2" fmla="*/ 0 h 6858478"/>
              <a:gd name="connsiteX3" fmla="*/ 2790391 w 5972343"/>
              <a:gd name="connsiteY3" fmla="*/ 0 h 6858478"/>
              <a:gd name="connsiteX4" fmla="*/ 1724163 w 5972343"/>
              <a:gd name="connsiteY4" fmla="*/ 0 h 6858478"/>
              <a:gd name="connsiteX5" fmla="*/ 0 w 5972343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72343" h="6858478">
                <a:moveTo>
                  <a:pt x="0" y="6858478"/>
                </a:moveTo>
                <a:lnTo>
                  <a:pt x="5972343" y="6858478"/>
                </a:lnTo>
                <a:lnTo>
                  <a:pt x="2795968" y="0"/>
                </a:lnTo>
                <a:lnTo>
                  <a:pt x="2790391" y="0"/>
                </a:lnTo>
                <a:lnTo>
                  <a:pt x="1724163" y="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>
              <a:lumMod val="85000"/>
              <a:lumOff val="1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ACD2B4C-49B9-744D-99F0-3A005991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42762"/>
            <a:ext cx="3276601" cy="3294351"/>
          </a:xfrm>
        </p:spPr>
        <p:txBody>
          <a:bodyPr>
            <a:normAutofit/>
          </a:bodyPr>
          <a:lstStyle/>
          <a:p>
            <a:r>
              <a:rPr lang="de-DE">
                <a:solidFill>
                  <a:schemeClr val="bg1"/>
                </a:solidFill>
              </a:rPr>
              <a:t>Iterables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883D1751-AE2F-7441-A970-34D87E87A51D}"/>
              </a:ext>
            </a:extLst>
          </p:cNvPr>
          <p:cNvGrpSpPr/>
          <p:nvPr/>
        </p:nvGrpSpPr>
        <p:grpSpPr>
          <a:xfrm>
            <a:off x="6143708" y="1915689"/>
            <a:ext cx="5337975" cy="3526130"/>
            <a:chOff x="4529138" y="1871663"/>
            <a:chExt cx="5472112" cy="3614737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877367E6-6C9D-2F49-85D3-258A7E878F8E}"/>
                </a:ext>
              </a:extLst>
            </p:cNvPr>
            <p:cNvSpPr/>
            <p:nvPr/>
          </p:nvSpPr>
          <p:spPr>
            <a:xfrm>
              <a:off x="4529138" y="1871663"/>
              <a:ext cx="5472112" cy="3614737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FE967185-0AD5-3B47-93E5-B6E23CE11458}"/>
                </a:ext>
              </a:extLst>
            </p:cNvPr>
            <p:cNvSpPr txBox="1"/>
            <p:nvPr/>
          </p:nvSpPr>
          <p:spPr>
            <a:xfrm>
              <a:off x="4800719" y="3784445"/>
              <a:ext cx="2581156" cy="830997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de-DE" sz="2000" err="1">
                  <a:solidFill>
                    <a:schemeClr val="bg1">
                      <a:lumMod val="95000"/>
                    </a:schemeClr>
                  </a:solidFill>
                  <a:latin typeface="Courier" pitchFamily="2" charset="0"/>
                </a:rPr>
                <a:t>For</a:t>
              </a:r>
              <a:r>
                <a:rPr lang="de-DE" sz="2000">
                  <a:solidFill>
                    <a:schemeClr val="bg1">
                      <a:lumMod val="95000"/>
                    </a:schemeClr>
                  </a:solidFill>
                  <a:latin typeface="Courier" pitchFamily="2" charset="0"/>
                </a:rPr>
                <a:t> x in </a:t>
              </a:r>
              <a:r>
                <a:rPr lang="de-DE" sz="2000" err="1">
                  <a:solidFill>
                    <a:schemeClr val="bg1">
                      <a:lumMod val="95000"/>
                    </a:schemeClr>
                  </a:solidFill>
                  <a:latin typeface="Courier" pitchFamily="2" charset="0"/>
                </a:rPr>
                <a:t>abc</a:t>
              </a:r>
              <a:r>
                <a:rPr lang="de-DE" sz="2000">
                  <a:solidFill>
                    <a:schemeClr val="bg1">
                      <a:lumMod val="95000"/>
                    </a:schemeClr>
                  </a:solidFill>
                  <a:latin typeface="Courier" pitchFamily="2" charset="0"/>
                </a:rPr>
                <a:t>:</a:t>
              </a:r>
            </a:p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de-DE" sz="2000">
                  <a:solidFill>
                    <a:schemeClr val="bg1">
                      <a:lumMod val="95000"/>
                    </a:schemeClr>
                  </a:solidFill>
                  <a:latin typeface="Courier" pitchFamily="2" charset="0"/>
                </a:rPr>
                <a:t>  # </a:t>
              </a:r>
              <a:r>
                <a:rPr lang="de-DE" sz="2000" err="1">
                  <a:solidFill>
                    <a:schemeClr val="bg1">
                      <a:lumMod val="95000"/>
                    </a:schemeClr>
                  </a:solidFill>
                  <a:latin typeface="Courier" pitchFamily="2" charset="0"/>
                </a:rPr>
                <a:t>code</a:t>
              </a:r>
              <a:endParaRPr lang="de-DE" sz="2000">
                <a:solidFill>
                  <a:schemeClr val="bg1">
                    <a:lumMod val="95000"/>
                  </a:schemeClr>
                </a:solidFill>
                <a:latin typeface="Courier" pitchFamily="2" charset="0"/>
              </a:endParaRPr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8CF7872B-0313-9648-AF9D-6D9BFBD6AC96}"/>
                </a:ext>
              </a:extLst>
            </p:cNvPr>
            <p:cNvSpPr txBox="1"/>
            <p:nvPr/>
          </p:nvSpPr>
          <p:spPr>
            <a:xfrm>
              <a:off x="8044907" y="2942909"/>
              <a:ext cx="1149674" cy="461665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de-DE" sz="2400" err="1">
                  <a:solidFill>
                    <a:srgbClr val="FFC000"/>
                  </a:solidFill>
                </a:rPr>
                <a:t>Iterable</a:t>
              </a:r>
              <a:endParaRPr lang="de-DE" sz="2400">
                <a:solidFill>
                  <a:srgbClr val="FFC000"/>
                </a:solidFill>
              </a:endParaRPr>
            </a:p>
          </p:txBody>
        </p:sp>
        <p:cxnSp>
          <p:nvCxnSpPr>
            <p:cNvPr id="7" name="Gerade Verbindung mit Pfeil 6">
              <a:extLst>
                <a:ext uri="{FF2B5EF4-FFF2-40B4-BE49-F238E27FC236}">
                  <a16:creationId xmlns:a16="http://schemas.microsoft.com/office/drawing/2014/main" id="{64E27607-B9DC-D446-A3D5-552F0AC12074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>
              <a:off x="6986588" y="3173742"/>
              <a:ext cx="1058319" cy="610703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01389056-8229-DF43-AE79-C956794618F2}"/>
                </a:ext>
              </a:extLst>
            </p:cNvPr>
            <p:cNvSpPr txBox="1"/>
            <p:nvPr/>
          </p:nvSpPr>
          <p:spPr>
            <a:xfrm>
              <a:off x="6091297" y="1893526"/>
              <a:ext cx="1618776" cy="584775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de-DE" sz="3100">
                  <a:solidFill>
                    <a:schemeClr val="bg1">
                      <a:lumMod val="95000"/>
                    </a:schemeClr>
                  </a:solidFill>
                </a:rPr>
                <a:t>Iteration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4790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3860A9-60B4-4F4C-8489-BCCB82E8E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Iterable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A7706B-99B8-B14C-A514-0B4FD088A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Um „</a:t>
            </a:r>
            <a:r>
              <a:rPr lang="de-DE" dirty="0" err="1"/>
              <a:t>iterable</a:t>
            </a:r>
            <a:r>
              <a:rPr lang="de-DE" dirty="0"/>
              <a:t>“ zu sein bieten die „Collection Abstract Base </a:t>
            </a:r>
            <a:r>
              <a:rPr lang="de-DE" dirty="0" err="1"/>
              <a:t>Classes</a:t>
            </a:r>
            <a:r>
              <a:rPr lang="de-DE" dirty="0"/>
              <a:t>“ zwei Methoden an:</a:t>
            </a:r>
            <a:br>
              <a:rPr lang="de-DE" dirty="0"/>
            </a:br>
            <a:r>
              <a:rPr lang="de-DE" dirty="0"/>
              <a:t>	__</a:t>
            </a:r>
            <a:r>
              <a:rPr lang="de-DE" dirty="0" err="1"/>
              <a:t>iter</a:t>
            </a:r>
            <a:r>
              <a:rPr lang="de-DE" dirty="0"/>
              <a:t>__ -&gt; gibt ein </a:t>
            </a:r>
            <a:r>
              <a:rPr lang="de-DE" dirty="0" err="1"/>
              <a:t>Iterator</a:t>
            </a:r>
            <a:r>
              <a:rPr lang="de-DE" dirty="0"/>
              <a:t> Objekt zurück</a:t>
            </a:r>
            <a:br>
              <a:rPr lang="de-DE" dirty="0"/>
            </a:br>
            <a:r>
              <a:rPr lang="de-DE" dirty="0"/>
              <a:t>und</a:t>
            </a:r>
            <a:br>
              <a:rPr lang="de-DE" dirty="0"/>
            </a:br>
            <a:r>
              <a:rPr lang="de-DE" dirty="0"/>
              <a:t>	__</a:t>
            </a:r>
            <a:r>
              <a:rPr lang="de-DE" dirty="0" err="1"/>
              <a:t>next</a:t>
            </a:r>
            <a:r>
              <a:rPr lang="de-DE" dirty="0"/>
              <a:t>__ -&gt; gibt nächste Item aus dem </a:t>
            </a:r>
            <a:r>
              <a:rPr lang="de-DE" dirty="0" err="1"/>
              <a:t>Iterator</a:t>
            </a:r>
            <a:r>
              <a:rPr lang="de-DE" dirty="0"/>
              <a:t> Objekt zurück</a:t>
            </a:r>
            <a:br>
              <a:rPr lang="de-DE" dirty="0"/>
            </a:br>
            <a:r>
              <a:rPr lang="de-DE" dirty="0"/>
              <a:t>wenn es nichts mehr </a:t>
            </a:r>
            <a:r>
              <a:rPr lang="de-DE"/>
              <a:t>zu iterieren </a:t>
            </a:r>
            <a:r>
              <a:rPr lang="de-DE" dirty="0"/>
              <a:t>gibt, dann:</a:t>
            </a:r>
            <a:br>
              <a:rPr lang="de-DE" dirty="0"/>
            </a:br>
            <a:r>
              <a:rPr lang="de-DE" dirty="0" err="1"/>
              <a:t>raise</a:t>
            </a:r>
            <a:r>
              <a:rPr lang="de-DE" dirty="0"/>
              <a:t> </a:t>
            </a:r>
            <a:r>
              <a:rPr lang="de-DE" dirty="0" err="1"/>
              <a:t>StopInteration</a:t>
            </a:r>
            <a:r>
              <a:rPr lang="de-DE" dirty="0"/>
              <a:t> </a:t>
            </a:r>
            <a:r>
              <a:rPr lang="de-DE" dirty="0" err="1"/>
              <a:t>exception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https://</a:t>
            </a:r>
            <a:r>
              <a:rPr lang="de-DE" dirty="0" err="1"/>
              <a:t>docs.python.org</a:t>
            </a:r>
            <a:r>
              <a:rPr lang="de-DE" dirty="0"/>
              <a:t>/3/</a:t>
            </a:r>
            <a:r>
              <a:rPr lang="de-DE" dirty="0" err="1"/>
              <a:t>library</a:t>
            </a:r>
            <a:r>
              <a:rPr lang="de-DE" dirty="0"/>
              <a:t>/</a:t>
            </a:r>
            <a:r>
              <a:rPr lang="de-DE" dirty="0" err="1"/>
              <a:t>collections.abc.html</a:t>
            </a:r>
            <a:r>
              <a:rPr lang="de-DE" dirty="0"/>
              <a:t> </a:t>
            </a:r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6541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F77881-155F-3841-9082-D5DDE4A52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itertools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A570C2-018E-2446-A111-20B78EC7B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3 Bereiche</a:t>
            </a:r>
          </a:p>
          <a:p>
            <a:pPr lvl="1"/>
            <a:r>
              <a:rPr lang="de-DE" dirty="0"/>
              <a:t>Infinite </a:t>
            </a:r>
            <a:r>
              <a:rPr lang="de-DE" dirty="0" err="1"/>
              <a:t>Iteratoren</a:t>
            </a:r>
            <a:endParaRPr lang="de-DE" dirty="0"/>
          </a:p>
          <a:p>
            <a:pPr lvl="1"/>
            <a:r>
              <a:rPr lang="de-DE" dirty="0"/>
              <a:t>Terminierende </a:t>
            </a:r>
            <a:r>
              <a:rPr lang="de-DE" dirty="0" err="1"/>
              <a:t>Iteratoren</a:t>
            </a:r>
            <a:endParaRPr lang="de-DE" dirty="0"/>
          </a:p>
          <a:p>
            <a:pPr lvl="1"/>
            <a:r>
              <a:rPr lang="de-DE" dirty="0"/>
              <a:t>Kombinatorische </a:t>
            </a:r>
            <a:r>
              <a:rPr lang="de-DE" dirty="0" err="1"/>
              <a:t>Iteratoren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1358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E4EA9F-3A62-0047-8324-7B29A3FD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de-DE" sz="4000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BDC23-0AD6-BB47-8155-C23E6FBF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de-DE" sz="2400"/>
              <a:t>Q &amp; 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Fragezeichen mit einfarbiger Füllung">
            <a:extLst>
              <a:ext uri="{FF2B5EF4-FFF2-40B4-BE49-F238E27FC236}">
                <a16:creationId xmlns:a16="http://schemas.microsoft.com/office/drawing/2014/main" id="{875CAEAD-17C1-C34C-9298-E096EB9F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5330" y="2105470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8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88A71F66-A729-BF48-831C-AEEAED2F839F}" vid="{93FA19C9-1BF1-AA44-9D34-49AD4FDE893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202</Words>
  <Application>Microsoft Macintosh PowerPoint</Application>
  <PresentationFormat>Breitbild</PresentationFormat>
  <Paragraphs>39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</vt:lpstr>
      <vt:lpstr>Office</vt:lpstr>
      <vt:lpstr>Python</vt:lpstr>
      <vt:lpstr>Agenda</vt:lpstr>
      <vt:lpstr>While</vt:lpstr>
      <vt:lpstr>Demo</vt:lpstr>
      <vt:lpstr>For Schleifen</vt:lpstr>
      <vt:lpstr>Demo</vt:lpstr>
      <vt:lpstr>Iteratoren</vt:lpstr>
      <vt:lpstr>Iterables</vt:lpstr>
      <vt:lpstr>Iterable</vt:lpstr>
      <vt:lpstr>itertools</vt:lpstr>
      <vt:lpstr>Ende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Ernst Hutsteiner</dc:creator>
  <cp:lastModifiedBy>Ernst Hutsteiner</cp:lastModifiedBy>
  <cp:revision>21</cp:revision>
  <dcterms:created xsi:type="dcterms:W3CDTF">2021-11-18T12:30:48Z</dcterms:created>
  <dcterms:modified xsi:type="dcterms:W3CDTF">2021-12-13T14:52:40Z</dcterms:modified>
</cp:coreProperties>
</file>