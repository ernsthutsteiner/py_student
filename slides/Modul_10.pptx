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70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/>
    <p:restoredTop sz="86350"/>
  </p:normalViewPr>
  <p:slideViewPr>
    <p:cSldViewPr snapToGrid="0" snapToObjects="1">
      <p:cViewPr varScale="1">
        <p:scale>
          <a:sx n="93" d="100"/>
          <a:sy n="93" d="100"/>
        </p:scale>
        <p:origin x="21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14897D-11E6-7D4C-B0FA-99BB61280336}" type="datetimeFigureOut">
              <a:rPr lang="de-DE" smtClean="0"/>
              <a:t>11.12.21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91405-EF3B-5B49-8BB8-A0EAC62FF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91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 7, error_6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499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Demos: Modul_10, files_1 und files_2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763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202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Modul_10, csv_1 bis csv_5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3653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6116-93FF-A045-A9B0-68E6E967F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28" y="225108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FFB516-B0AE-1242-A23C-0BBB531D6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27" y="491175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026" name="Picture 2" descr="Logo Hutsteiner">
            <a:extLst>
              <a:ext uri="{FF2B5EF4-FFF2-40B4-BE49-F238E27FC236}">
                <a16:creationId xmlns:a16="http://schemas.microsoft.com/office/drawing/2014/main" id="{BE78DB82-B139-294B-8D3E-1C811E067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181719"/>
            <a:ext cx="3505200" cy="168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41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84A64-7DB3-F14D-AA4D-CEF0DB99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E3EE2-EED0-0643-A8E4-A395DCE9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930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891A6-1040-3E4D-836B-F1F353E5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F74BC7-64B2-5843-8E42-16B61F400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294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FCF6E-81C4-5A4B-82FC-CB7E649D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37C5E-E331-6B47-A91C-8C7E35248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E8028B-2428-5A4D-A146-D067D2C83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4336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B1A62-BAD3-1F4D-88FE-C1FD0E4D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E0E73-BC58-7A44-9C75-05B86F127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3F928E-1434-0C4E-8793-1AE067406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258AC5-3709-BF4D-9329-1B865490C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2B4586-A3D7-D947-84A5-6D5D7E330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171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B432D-F227-004B-8770-A22BC2AF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2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6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1997A-0791-154A-9E2F-B9293088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3DD00-1418-6D4E-91AB-F33F1190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25765E-48CC-7542-9B12-A6AE7AA19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018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0E643-3527-FE40-B649-80A474C4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3087FD-F37C-A84A-8F19-FBB5DEAD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5DACED-209B-EF47-8699-021D04DBC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917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C6989-866D-F547-9896-7B152526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40596C-A566-DA40-883B-341B3B34D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438F8E-9CB3-0745-9002-A4B864E1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11.12.21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31CDFB-673C-274D-887A-D3A63598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0315F2-3BD2-F740-B4C2-F14A64E0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31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97D076-7EA9-A54C-B9C3-AEBFF936C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4263DF-7DD5-4947-888C-47A5ACB85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8D204-5B9B-144F-B41E-F3746DDE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11.12.21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CC5704-166B-654C-B613-0A04CFA0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0B8B9-8DE3-C342-B585-942E2ECB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6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CAB6531-9149-0442-9B18-742EF226366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698A33-CEB5-AC4C-85A5-7120DDC2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F2CD9-1E7B-104D-A63A-F776B508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5B110C5-47C5-814C-BC26-0AD16EE6984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58525" y="6221095"/>
            <a:ext cx="1019175" cy="5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2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FF56F-811A-9C45-B747-C608AC34A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de-DE" dirty="0"/>
              <a:t>Python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23CFE7-7AB5-4F4D-8603-1FF9C42D5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91" y="3519513"/>
            <a:ext cx="4826000" cy="3048000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395B9449-3F89-8745-911C-3EC89A8CC1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de-DE" dirty="0"/>
              <a:t>Basiswissen</a:t>
            </a:r>
            <a:br>
              <a:rPr lang="de-DE" dirty="0"/>
            </a:br>
            <a:r>
              <a:rPr lang="de-DE" dirty="0"/>
              <a:t>Modul10  - Python </a:t>
            </a:r>
            <a:br>
              <a:rPr lang="de-DE"/>
            </a:br>
            <a:r>
              <a:rPr lang="de-DE"/>
              <a:t>Dateioperationen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437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B070395-6FF8-D341-A227-65237964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AE82633-098D-2546-A957-27D6CA60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Dateien lesen und schreiben</a:t>
            </a:r>
          </a:p>
          <a:p>
            <a:r>
              <a:rPr lang="de-DE" dirty="0" err="1"/>
              <a:t>Csv</a:t>
            </a:r>
            <a:r>
              <a:rPr lang="de-DE" dirty="0"/>
              <a:t>-Dateien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587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706E4D-6A1E-E747-B12F-B2A5F33F5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open()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0B11B8-F91F-0E47-92D0-2E7A57CBC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Open() ist die </a:t>
            </a:r>
            <a:r>
              <a:rPr lang="de-DE" dirty="0" err="1"/>
              <a:t>Schlüssenfunktion</a:t>
            </a:r>
            <a:r>
              <a:rPr lang="de-DE" dirty="0"/>
              <a:t>, um mit Dateien zu arbeiten</a:t>
            </a:r>
          </a:p>
          <a:p>
            <a:r>
              <a:rPr lang="de-DE" dirty="0"/>
              <a:t>Es sind zwei </a:t>
            </a:r>
            <a:r>
              <a:rPr lang="de-DE" dirty="0" err="1"/>
              <a:t>Paramenter</a:t>
            </a:r>
            <a:r>
              <a:rPr lang="de-DE" dirty="0"/>
              <a:t> möglich: Dateiname und Modus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977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746C04-F2E3-BA4E-A11F-CB10D4B7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Open() - Modi</a:t>
            </a:r>
          </a:p>
        </p:txBody>
      </p:sp>
      <p:graphicFrame>
        <p:nvGraphicFramePr>
          <p:cNvPr id="5" name="Tabelle 5">
            <a:extLst>
              <a:ext uri="{FF2B5EF4-FFF2-40B4-BE49-F238E27FC236}">
                <a16:creationId xmlns:a16="http://schemas.microsoft.com/office/drawing/2014/main" id="{D2BB132D-9D3D-3947-971F-D6C79353D9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7894185"/>
              </p:ext>
            </p:extLst>
          </p:nvPr>
        </p:nvGraphicFramePr>
        <p:xfrm>
          <a:off x="838200" y="2329483"/>
          <a:ext cx="10515600" cy="3509386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  <a:tableStyleId>{073A0DAA-6AF3-43AB-8588-CEC1D06C72B9}</a:tableStyleId>
              </a:tblPr>
              <a:tblGrid>
                <a:gridCol w="1695742">
                  <a:extLst>
                    <a:ext uri="{9D8B030D-6E8A-4147-A177-3AD203B41FA5}">
                      <a16:colId xmlns:a16="http://schemas.microsoft.com/office/drawing/2014/main" val="1822362679"/>
                    </a:ext>
                  </a:extLst>
                </a:gridCol>
                <a:gridCol w="8819858">
                  <a:extLst>
                    <a:ext uri="{9D8B030D-6E8A-4147-A177-3AD203B41FA5}">
                      <a16:colId xmlns:a16="http://schemas.microsoft.com/office/drawing/2014/main" val="1973152475"/>
                    </a:ext>
                  </a:extLst>
                </a:gridCol>
              </a:tblGrid>
              <a:tr h="790302">
                <a:tc>
                  <a:txBody>
                    <a:bodyPr/>
                    <a:lstStyle/>
                    <a:p>
                      <a:r>
                        <a:rPr lang="de-DE" sz="2900" b="1" cap="none" spc="0">
                          <a:solidFill>
                            <a:schemeClr val="bg1"/>
                          </a:solidFill>
                        </a:rPr>
                        <a:t>Modus</a:t>
                      </a:r>
                    </a:p>
                  </a:txBody>
                  <a:tcPr marL="116058" marR="165798" marT="33160" marB="248696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2900" b="1" cap="none" spc="0">
                          <a:solidFill>
                            <a:schemeClr val="bg1"/>
                          </a:solidFill>
                        </a:rPr>
                        <a:t>Beschreibung</a:t>
                      </a:r>
                    </a:p>
                  </a:txBody>
                  <a:tcPr marL="116058" marR="165798" marT="33160" marB="248696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617073"/>
                  </a:ext>
                </a:extLst>
              </a:tr>
              <a:tr h="679771">
                <a:tc>
                  <a:txBody>
                    <a:bodyPr/>
                    <a:lstStyle/>
                    <a:p>
                      <a:r>
                        <a:rPr lang="de-DE" sz="2200" cap="none" spc="0">
                          <a:solidFill>
                            <a:schemeClr val="bg1"/>
                          </a:solidFill>
                        </a:rPr>
                        <a:t>„</a:t>
                      </a:r>
                      <a:r>
                        <a:rPr lang="de-DE" sz="2200" cap="none" spc="0" err="1">
                          <a:solidFill>
                            <a:schemeClr val="bg1"/>
                          </a:solidFill>
                        </a:rPr>
                        <a:t>r</a:t>
                      </a:r>
                      <a:r>
                        <a:rPr lang="de-DE" sz="2200" cap="none" spc="0">
                          <a:solidFill>
                            <a:schemeClr val="bg1"/>
                          </a:solidFill>
                        </a:rPr>
                        <a:t>“</a:t>
                      </a:r>
                    </a:p>
                  </a:txBody>
                  <a:tcPr marL="116058" marR="165798" marT="33160" marB="248696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2200" cap="none" spc="0">
                          <a:solidFill>
                            <a:schemeClr val="bg1"/>
                          </a:solidFill>
                        </a:rPr>
                        <a:t>Lesen (</a:t>
                      </a:r>
                      <a:r>
                        <a:rPr lang="de-DE" sz="2200" cap="none" spc="0" err="1">
                          <a:solidFill>
                            <a:schemeClr val="bg1"/>
                          </a:solidFill>
                        </a:rPr>
                        <a:t>default</a:t>
                      </a:r>
                      <a:r>
                        <a:rPr lang="de-DE" sz="2200" cap="none" spc="0">
                          <a:solidFill>
                            <a:schemeClr val="bg1"/>
                          </a:solidFill>
                        </a:rPr>
                        <a:t>) – öffnet Datei zum Lesen. Fehler wenn nicht existent</a:t>
                      </a:r>
                    </a:p>
                  </a:txBody>
                  <a:tcPr marL="116058" marR="165798" marT="33160" marB="24869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38369"/>
                  </a:ext>
                </a:extLst>
              </a:tr>
              <a:tr h="679771">
                <a:tc>
                  <a:txBody>
                    <a:bodyPr/>
                    <a:lstStyle/>
                    <a:p>
                      <a:r>
                        <a:rPr lang="de-DE" sz="2200" cap="none" spc="0">
                          <a:solidFill>
                            <a:schemeClr val="bg1"/>
                          </a:solidFill>
                        </a:rPr>
                        <a:t>„a“</a:t>
                      </a:r>
                    </a:p>
                  </a:txBody>
                  <a:tcPr marL="116058" marR="165798" marT="33160" marB="248696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2200" cap="none" spc="0" err="1">
                          <a:solidFill>
                            <a:schemeClr val="bg1"/>
                          </a:solidFill>
                        </a:rPr>
                        <a:t>Append</a:t>
                      </a:r>
                      <a:r>
                        <a:rPr lang="de-DE" sz="2200" cap="none" spc="0">
                          <a:solidFill>
                            <a:schemeClr val="bg1"/>
                          </a:solidFill>
                        </a:rPr>
                        <a:t> – öffnet zum Erweitern. Erstellt Datei, wenn nicht existent</a:t>
                      </a:r>
                    </a:p>
                  </a:txBody>
                  <a:tcPr marL="116058" marR="165798" marT="33160" marB="24869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09431"/>
                  </a:ext>
                </a:extLst>
              </a:tr>
              <a:tr h="679771">
                <a:tc>
                  <a:txBody>
                    <a:bodyPr/>
                    <a:lstStyle/>
                    <a:p>
                      <a:r>
                        <a:rPr lang="de-DE" sz="2200" cap="none" spc="0">
                          <a:solidFill>
                            <a:schemeClr val="bg1"/>
                          </a:solidFill>
                        </a:rPr>
                        <a:t>„</a:t>
                      </a:r>
                      <a:r>
                        <a:rPr lang="de-DE" sz="2200" cap="none" spc="0" err="1">
                          <a:solidFill>
                            <a:schemeClr val="bg1"/>
                          </a:solidFill>
                        </a:rPr>
                        <a:t>w</a:t>
                      </a:r>
                      <a:r>
                        <a:rPr lang="de-DE" sz="2200" cap="none" spc="0">
                          <a:solidFill>
                            <a:schemeClr val="bg1"/>
                          </a:solidFill>
                        </a:rPr>
                        <a:t>“</a:t>
                      </a:r>
                    </a:p>
                  </a:txBody>
                  <a:tcPr marL="116058" marR="165798" marT="33160" marB="248696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2200" cap="none" spc="0">
                          <a:solidFill>
                            <a:schemeClr val="bg1"/>
                          </a:solidFill>
                        </a:rPr>
                        <a:t>Write – öffnet zum Schreiben. Erstellt Datei, wenn nicht existent</a:t>
                      </a:r>
                    </a:p>
                  </a:txBody>
                  <a:tcPr marL="116058" marR="165798" marT="33160" marB="24869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255695"/>
                  </a:ext>
                </a:extLst>
              </a:tr>
              <a:tr h="679771">
                <a:tc>
                  <a:txBody>
                    <a:bodyPr/>
                    <a:lstStyle/>
                    <a:p>
                      <a:r>
                        <a:rPr lang="de-DE" sz="2200" cap="none" spc="0">
                          <a:solidFill>
                            <a:schemeClr val="bg1"/>
                          </a:solidFill>
                        </a:rPr>
                        <a:t>„x“</a:t>
                      </a:r>
                    </a:p>
                  </a:txBody>
                  <a:tcPr marL="116058" marR="165798" marT="33160" marB="248696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2200" cap="none" spc="0" err="1">
                          <a:solidFill>
                            <a:schemeClr val="bg1"/>
                          </a:solidFill>
                        </a:rPr>
                        <a:t>create</a:t>
                      </a:r>
                      <a:r>
                        <a:rPr lang="de-DE" sz="2200" cap="none" spc="0">
                          <a:solidFill>
                            <a:schemeClr val="bg1"/>
                          </a:solidFill>
                        </a:rPr>
                        <a:t> - erzeugt die Datei, gibt einen Fehler aus, wenn existent</a:t>
                      </a:r>
                    </a:p>
                  </a:txBody>
                  <a:tcPr marL="116058" marR="165798" marT="33160" marB="24869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683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467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746C04-F2E3-BA4E-A11F-CB10D4B7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7400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de-DE" sz="2200">
                <a:solidFill>
                  <a:srgbClr val="FFFFFF"/>
                </a:solidFill>
              </a:rPr>
              <a:t>Open() - Zusatzoptionen</a:t>
            </a:r>
          </a:p>
        </p:txBody>
      </p:sp>
      <p:graphicFrame>
        <p:nvGraphicFramePr>
          <p:cNvPr id="5" name="Tabelle 5">
            <a:extLst>
              <a:ext uri="{FF2B5EF4-FFF2-40B4-BE49-F238E27FC236}">
                <a16:creationId xmlns:a16="http://schemas.microsoft.com/office/drawing/2014/main" id="{D2BB132D-9D3D-3947-971F-D6C79353D9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9967102"/>
              </p:ext>
            </p:extLst>
          </p:nvPr>
        </p:nvGraphicFramePr>
        <p:xfrm>
          <a:off x="4038600" y="2209448"/>
          <a:ext cx="7315201" cy="24391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90347">
                  <a:extLst>
                    <a:ext uri="{9D8B030D-6E8A-4147-A177-3AD203B41FA5}">
                      <a16:colId xmlns:a16="http://schemas.microsoft.com/office/drawing/2014/main" val="1822362679"/>
                    </a:ext>
                  </a:extLst>
                </a:gridCol>
                <a:gridCol w="5924854">
                  <a:extLst>
                    <a:ext uri="{9D8B030D-6E8A-4147-A177-3AD203B41FA5}">
                      <a16:colId xmlns:a16="http://schemas.microsoft.com/office/drawing/2014/main" val="1973152475"/>
                    </a:ext>
                  </a:extLst>
                </a:gridCol>
              </a:tblGrid>
              <a:tr h="558962">
                <a:tc>
                  <a:txBody>
                    <a:bodyPr/>
                    <a:lstStyle/>
                    <a:p>
                      <a:r>
                        <a:rPr lang="de-DE" sz="2500"/>
                        <a:t>Modus</a:t>
                      </a:r>
                    </a:p>
                  </a:txBody>
                  <a:tcPr marL="127037" marR="127037" marT="63518" marB="63518"/>
                </a:tc>
                <a:tc>
                  <a:txBody>
                    <a:bodyPr/>
                    <a:lstStyle/>
                    <a:p>
                      <a:r>
                        <a:rPr lang="de-DE" sz="2500"/>
                        <a:t>Beschreibung</a:t>
                      </a:r>
                    </a:p>
                  </a:txBody>
                  <a:tcPr marL="127037" marR="127037" marT="63518" marB="63518"/>
                </a:tc>
                <a:extLst>
                  <a:ext uri="{0D108BD9-81ED-4DB2-BD59-A6C34878D82A}">
                    <a16:rowId xmlns:a16="http://schemas.microsoft.com/office/drawing/2014/main" val="618617073"/>
                  </a:ext>
                </a:extLst>
              </a:tr>
              <a:tr h="940072">
                <a:tc>
                  <a:txBody>
                    <a:bodyPr/>
                    <a:lstStyle/>
                    <a:p>
                      <a:r>
                        <a:rPr lang="de-DE" sz="2500"/>
                        <a:t>„t“</a:t>
                      </a:r>
                    </a:p>
                  </a:txBody>
                  <a:tcPr marL="127037" marR="127037" marT="63518" marB="63518"/>
                </a:tc>
                <a:tc>
                  <a:txBody>
                    <a:bodyPr/>
                    <a:lstStyle/>
                    <a:p>
                      <a:r>
                        <a:rPr lang="de-DE" sz="2500"/>
                        <a:t>Text – öffnet Datei im Text-Modus (default)</a:t>
                      </a:r>
                    </a:p>
                  </a:txBody>
                  <a:tcPr marL="127037" marR="127037" marT="63518" marB="63518"/>
                </a:tc>
                <a:extLst>
                  <a:ext uri="{0D108BD9-81ED-4DB2-BD59-A6C34878D82A}">
                    <a16:rowId xmlns:a16="http://schemas.microsoft.com/office/drawing/2014/main" val="227238369"/>
                  </a:ext>
                </a:extLst>
              </a:tr>
              <a:tr h="940072">
                <a:tc>
                  <a:txBody>
                    <a:bodyPr/>
                    <a:lstStyle/>
                    <a:p>
                      <a:r>
                        <a:rPr lang="de-DE" sz="2500"/>
                        <a:t>„b“</a:t>
                      </a:r>
                    </a:p>
                  </a:txBody>
                  <a:tcPr marL="127037" marR="127037" marT="63518" marB="63518"/>
                </a:tc>
                <a:tc>
                  <a:txBody>
                    <a:bodyPr/>
                    <a:lstStyle/>
                    <a:p>
                      <a:r>
                        <a:rPr lang="de-DE" sz="2500"/>
                        <a:t>Binary – öffnet Datei im binären Modus (z.B. Bilder=</a:t>
                      </a:r>
                    </a:p>
                  </a:txBody>
                  <a:tcPr marL="127037" marR="127037" marT="63518" marB="63518"/>
                </a:tc>
                <a:extLst>
                  <a:ext uri="{0D108BD9-81ED-4DB2-BD59-A6C34878D82A}">
                    <a16:rowId xmlns:a16="http://schemas.microsoft.com/office/drawing/2014/main" val="2477009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502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130368-816D-B542-BEBE-C8B1DA2BC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Comma</a:t>
            </a:r>
            <a:r>
              <a:rPr lang="de-DE" dirty="0"/>
              <a:t> </a:t>
            </a:r>
            <a:r>
              <a:rPr lang="de-DE" dirty="0" err="1"/>
              <a:t>Separated</a:t>
            </a:r>
            <a:r>
              <a:rPr lang="de-DE" dirty="0"/>
              <a:t> Values (</a:t>
            </a:r>
            <a:r>
              <a:rPr lang="de-DE" dirty="0" err="1"/>
              <a:t>csv</a:t>
            </a:r>
            <a:r>
              <a:rPr lang="de-DE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B5B826-82E2-4E48-B6C0-C55E19588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Beliebtes Datenformat zum speichern tabellarischer Strukturen</a:t>
            </a:r>
          </a:p>
          <a:p>
            <a:r>
              <a:rPr lang="de-DE" dirty="0"/>
              <a:t>Sie sind:</a:t>
            </a:r>
          </a:p>
          <a:p>
            <a:pPr lvl="1"/>
            <a:r>
              <a:rPr lang="de-DE" dirty="0"/>
              <a:t>Textdateien</a:t>
            </a:r>
          </a:p>
          <a:p>
            <a:pPr lvl="1"/>
            <a:r>
              <a:rPr lang="de-DE" dirty="0"/>
              <a:t>Mit oder ohne Header</a:t>
            </a:r>
          </a:p>
          <a:p>
            <a:pPr lvl="1"/>
            <a:r>
              <a:rPr lang="de-DE" dirty="0"/>
              <a:t>Getrennt durch eine „Separator“ (,;|…)</a:t>
            </a:r>
          </a:p>
          <a:p>
            <a:pPr lvl="1"/>
            <a:r>
              <a:rPr lang="de-DE" dirty="0"/>
              <a:t>Einfach</a:t>
            </a:r>
          </a:p>
          <a:p>
            <a:pPr lvl="1"/>
            <a:r>
              <a:rPr lang="de-DE" dirty="0"/>
              <a:t>Bequem zu handhaben</a:t>
            </a:r>
          </a:p>
          <a:p>
            <a:pPr lvl="1"/>
            <a:r>
              <a:rPr lang="de-DE" dirty="0"/>
              <a:t>Benötigen keine Treiber, etc.</a:t>
            </a:r>
          </a:p>
        </p:txBody>
      </p:sp>
    </p:spTree>
    <p:extLst>
      <p:ext uri="{BB962C8B-B14F-4D97-AF65-F5344CB8AC3E}">
        <p14:creationId xmlns:p14="http://schemas.microsoft.com/office/powerpoint/2010/main" val="1980866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905BA41-EE6E-4F80-8636-447F22DD7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16FD271-84B7-3B4C-A477-8DD54C45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8465" y="3298722"/>
            <a:ext cx="8495070" cy="17844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csv - Demo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D7549B2-EE05-4558-8C64-AC46755F2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25914" y="889251"/>
            <a:ext cx="2140172" cy="2140172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Album">
            <a:extLst>
              <a:ext uri="{FF2B5EF4-FFF2-40B4-BE49-F238E27FC236}">
                <a16:creationId xmlns:a16="http://schemas.microsoft.com/office/drawing/2014/main" id="{7ED25437-0CCC-4581-BCBE-831B46EA8C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8264" y="1371601"/>
            <a:ext cx="1175474" cy="117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565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A2634E-6732-D04F-9FA5-2DFFCA95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de-DE"/>
              <a:t>JSON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0DAB5E-861A-404A-A3AB-05C8DC937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de-DE" sz="2000" dirty="0" err="1"/>
              <a:t>Json</a:t>
            </a:r>
            <a:r>
              <a:rPr lang="de-DE" sz="2000" dirty="0"/>
              <a:t> ist Text. Geschrieben in der JavaScript Notation</a:t>
            </a:r>
          </a:p>
          <a:p>
            <a:r>
              <a:rPr lang="de-DE" sz="2000" dirty="0"/>
              <a:t>Python bietet ein Modul: </a:t>
            </a:r>
            <a:r>
              <a:rPr lang="de-DE" sz="2000" dirty="0" err="1"/>
              <a:t>json</a:t>
            </a:r>
            <a:endParaRPr lang="de-DE" sz="2000" dirty="0"/>
          </a:p>
          <a:p>
            <a:r>
              <a:rPr lang="de-DE" sz="2000" dirty="0" err="1"/>
              <a:t>Json</a:t>
            </a:r>
            <a:r>
              <a:rPr lang="de-DE" sz="2000" dirty="0"/>
              <a:t> </a:t>
            </a:r>
            <a:r>
              <a:rPr lang="de-DE" sz="2000" dirty="0" err="1"/>
              <a:t>strings</a:t>
            </a:r>
            <a:r>
              <a:rPr lang="de-DE" sz="2000" dirty="0"/>
              <a:t> werden mit </a:t>
            </a:r>
            <a:r>
              <a:rPr lang="de-DE" sz="2000" dirty="0" err="1"/>
              <a:t>json.loads</a:t>
            </a:r>
            <a:r>
              <a:rPr lang="de-DE" sz="2000" dirty="0"/>
              <a:t>() </a:t>
            </a:r>
            <a:r>
              <a:rPr lang="de-DE" sz="2000" dirty="0" err="1"/>
              <a:t>geparsed</a:t>
            </a:r>
            <a:r>
              <a:rPr lang="de-DE" sz="2000" dirty="0"/>
              <a:t>. Ergebnis: </a:t>
            </a:r>
            <a:r>
              <a:rPr lang="de-DE" sz="2000" dirty="0" err="1"/>
              <a:t>Dictionary</a:t>
            </a:r>
            <a:endParaRPr lang="de-DE" sz="2000" dirty="0"/>
          </a:p>
        </p:txBody>
      </p:sp>
      <p:pic>
        <p:nvPicPr>
          <p:cNvPr id="5" name="Picture 4" descr="Viele Fragezeichen vor schwarzem Hintergrund">
            <a:extLst>
              <a:ext uri="{FF2B5EF4-FFF2-40B4-BE49-F238E27FC236}">
                <a16:creationId xmlns:a16="http://schemas.microsoft.com/office/drawing/2014/main" id="{F06ADCEB-11C8-4F0E-BE5C-2FC5673D8B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767" r="2" b="2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815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A1B759-686A-6A43-821A-86F52A4C7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JSON vs. </a:t>
            </a:r>
            <a:r>
              <a:rPr lang="de-DE" dirty="0" err="1"/>
              <a:t>Dictionary</a:t>
            </a:r>
            <a:endParaRPr lang="de-DE" dirty="0"/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726C3CEB-53D2-F54E-93FA-57152FF37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2053464"/>
            <a:ext cx="5932251" cy="4740383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51C71460-2066-CC4F-A355-D22F710F7406}"/>
              </a:ext>
            </a:extLst>
          </p:cNvPr>
          <p:cNvSpPr txBox="1"/>
          <p:nvPr/>
        </p:nvSpPr>
        <p:spPr>
          <a:xfrm>
            <a:off x="7633251" y="2765897"/>
            <a:ext cx="1608025" cy="46166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>
                    <a:lumMod val="95000"/>
                  </a:schemeClr>
                </a:solidFill>
              </a:rPr>
              <a:t>True, </a:t>
            </a:r>
            <a:r>
              <a:rPr lang="de-DE" sz="2400" dirty="0" err="1">
                <a:solidFill>
                  <a:schemeClr val="bg1">
                    <a:lumMod val="95000"/>
                  </a:schemeClr>
                </a:solidFill>
              </a:rPr>
              <a:t>False</a:t>
            </a:r>
            <a:endParaRPr lang="de-DE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1B7005B-CE9E-984E-9A06-4FFE708D5755}"/>
              </a:ext>
            </a:extLst>
          </p:cNvPr>
          <p:cNvSpPr txBox="1"/>
          <p:nvPr/>
        </p:nvSpPr>
        <p:spPr>
          <a:xfrm>
            <a:off x="7633252" y="4092103"/>
            <a:ext cx="1082732" cy="46166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 anchor="ctr" anchorCtr="0">
            <a:spAutoFit/>
          </a:bodyPr>
          <a:lstStyle/>
          <a:p>
            <a:r>
              <a:rPr lang="de-DE" sz="2400" dirty="0">
                <a:solidFill>
                  <a:schemeClr val="bg1">
                    <a:lumMod val="95000"/>
                  </a:schemeClr>
                </a:solidFill>
              </a:rPr>
              <a:t>None</a:t>
            </a:r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A3E590D6-D965-A24D-81FF-18483B2B75AB}"/>
              </a:ext>
            </a:extLst>
          </p:cNvPr>
          <p:cNvCxnSpPr>
            <a:endCxn id="5" idx="1"/>
          </p:cNvCxnSpPr>
          <p:nvPr/>
        </p:nvCxnSpPr>
        <p:spPr>
          <a:xfrm flipV="1">
            <a:off x="3774332" y="2996730"/>
            <a:ext cx="3858919" cy="43227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ADCD3853-64D7-814E-B8E0-6D956B55E143}"/>
              </a:ext>
            </a:extLst>
          </p:cNvPr>
          <p:cNvCxnSpPr>
            <a:endCxn id="6" idx="1"/>
          </p:cNvCxnSpPr>
          <p:nvPr/>
        </p:nvCxnSpPr>
        <p:spPr>
          <a:xfrm>
            <a:off x="3599234" y="4322293"/>
            <a:ext cx="4034018" cy="64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935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4" descr="Old house on a field">
            <a:extLst>
              <a:ext uri="{FF2B5EF4-FFF2-40B4-BE49-F238E27FC236}">
                <a16:creationId xmlns:a16="http://schemas.microsoft.com/office/drawing/2014/main" id="{967233A0-3DCF-46C3-8894-E8A3ED9CE9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627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9588F9-B575-B846-92AD-F4CEFE93F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Pickle</a:t>
            </a: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8733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381016-AFC1-684C-BA53-D3FED8DB2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Eingemachte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04F471-B0E1-1E4C-9944-676108C10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Python Objekt </a:t>
            </a:r>
            <a:r>
              <a:rPr lang="de-DE" dirty="0" err="1"/>
              <a:t>Serialization</a:t>
            </a:r>
            <a:r>
              <a:rPr lang="de-DE" dirty="0"/>
              <a:t> mit „pickle“</a:t>
            </a:r>
          </a:p>
          <a:p>
            <a:r>
              <a:rPr lang="de-DE" dirty="0"/>
              <a:t>„</a:t>
            </a:r>
            <a:r>
              <a:rPr lang="de-DE" dirty="0" err="1"/>
              <a:t>pickling</a:t>
            </a:r>
            <a:r>
              <a:rPr lang="de-DE" dirty="0"/>
              <a:t>“ =&gt; Python Objekte werden in einen Byte-Stream gepackt (</a:t>
            </a:r>
            <a:r>
              <a:rPr lang="de-DE" dirty="0" err="1"/>
              <a:t>Serialization</a:t>
            </a:r>
            <a:r>
              <a:rPr lang="de-DE" dirty="0"/>
              <a:t>(</a:t>
            </a:r>
          </a:p>
          <a:p>
            <a:r>
              <a:rPr lang="de-DE" dirty="0"/>
              <a:t>„</a:t>
            </a:r>
            <a:r>
              <a:rPr lang="de-DE" dirty="0" err="1"/>
              <a:t>unpickling</a:t>
            </a:r>
            <a:r>
              <a:rPr lang="de-DE" dirty="0"/>
              <a:t>“ =&gt; Python Objekte werden aus eine binären File wieder zu Python Objekten</a:t>
            </a:r>
          </a:p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30E8FB3-A172-B24B-8B13-534CE6492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900" y="4125433"/>
            <a:ext cx="6285707" cy="1849622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704E801C-FF81-D041-94FA-FAC67CDB5F2A}"/>
              </a:ext>
            </a:extLst>
          </p:cNvPr>
          <p:cNvSpPr txBox="1"/>
          <p:nvPr/>
        </p:nvSpPr>
        <p:spPr>
          <a:xfrm>
            <a:off x="838200" y="6176963"/>
            <a:ext cx="4460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>
                    <a:lumMod val="95000"/>
                  </a:schemeClr>
                </a:solidFill>
              </a:rPr>
              <a:t>https://</a:t>
            </a:r>
            <a:r>
              <a:rPr lang="de-DE" dirty="0" err="1">
                <a:solidFill>
                  <a:schemeClr val="bg1">
                    <a:lumMod val="95000"/>
                  </a:schemeClr>
                </a:solidFill>
              </a:rPr>
              <a:t>docs.python.org</a:t>
            </a:r>
            <a:r>
              <a:rPr lang="de-DE" dirty="0">
                <a:solidFill>
                  <a:schemeClr val="bg1">
                    <a:lumMod val="95000"/>
                  </a:schemeClr>
                </a:solidFill>
              </a:rPr>
              <a:t>/3/</a:t>
            </a:r>
            <a:r>
              <a:rPr lang="de-DE" dirty="0" err="1">
                <a:solidFill>
                  <a:schemeClr val="bg1">
                    <a:lumMod val="95000"/>
                  </a:schemeClr>
                </a:solidFill>
              </a:rPr>
              <a:t>library</a:t>
            </a:r>
            <a:r>
              <a:rPr lang="de-DE" dirty="0">
                <a:solidFill>
                  <a:schemeClr val="bg1">
                    <a:lumMod val="95000"/>
                  </a:schemeClr>
                </a:solidFill>
              </a:rPr>
              <a:t>/</a:t>
            </a:r>
            <a:r>
              <a:rPr lang="de-DE" dirty="0" err="1">
                <a:solidFill>
                  <a:schemeClr val="bg1">
                    <a:lumMod val="95000"/>
                  </a:schemeClr>
                </a:solidFill>
              </a:rPr>
              <a:t>pickle.html</a:t>
            </a:r>
            <a:endParaRPr lang="de-DE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126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E4EA9F-3A62-0047-8324-7B29A3FD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de-DE" sz="4000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BDC23-0AD6-BB47-8155-C23E6FBF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de-DE" sz="2400"/>
              <a:t>Q &amp; A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 4" descr="Fragezeichen mit einfarbiger Füllung">
            <a:extLst>
              <a:ext uri="{FF2B5EF4-FFF2-40B4-BE49-F238E27FC236}">
                <a16:creationId xmlns:a16="http://schemas.microsoft.com/office/drawing/2014/main" id="{875CAEAD-17C1-C34C-9298-E096EB9F3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5330" y="2105470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8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88A71F66-A729-BF48-831C-AEEAED2F839F}" vid="{93FA19C9-1BF1-AA44-9D34-49AD4FDE893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309</Words>
  <Application>Microsoft Macintosh PowerPoint</Application>
  <PresentationFormat>Breitbild</PresentationFormat>
  <Paragraphs>58</Paragraphs>
  <Slides>12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</vt:lpstr>
      <vt:lpstr>Python</vt:lpstr>
      <vt:lpstr>Agenda</vt:lpstr>
      <vt:lpstr>open()</vt:lpstr>
      <vt:lpstr>Open() - Modi</vt:lpstr>
      <vt:lpstr>Open() - Zusatzoptionen</vt:lpstr>
      <vt:lpstr>Comma Separated Values (csv)</vt:lpstr>
      <vt:lpstr>csv - Demo</vt:lpstr>
      <vt:lpstr>JSON</vt:lpstr>
      <vt:lpstr>JSON vs. Dictionary</vt:lpstr>
      <vt:lpstr>Pickle</vt:lpstr>
      <vt:lpstr>Das Eingemachte</vt:lpstr>
      <vt:lpstr>Ende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Ernst Hutsteiner</dc:creator>
  <cp:lastModifiedBy>Ernst Hutsteiner</cp:lastModifiedBy>
  <cp:revision>63</cp:revision>
  <dcterms:created xsi:type="dcterms:W3CDTF">2021-11-18T12:30:48Z</dcterms:created>
  <dcterms:modified xsi:type="dcterms:W3CDTF">2021-12-12T11:46:58Z</dcterms:modified>
</cp:coreProperties>
</file>